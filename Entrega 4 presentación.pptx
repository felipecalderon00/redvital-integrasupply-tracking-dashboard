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82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35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49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834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976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096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6807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806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113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664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725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30F2D96-EFBD-4DE1-BE2B-25A1E6F3DE1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F4A0EFD-2CB8-4554-A92A-2FCF4B19D5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243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lipeCalderon00/RedVital-IntegraSupply-Tracking-Dashboard/blob/main/README.m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Resultado de imagen de Asturias Corporación Universitaria">
            <a:extLst>
              <a:ext uri="{FF2B5EF4-FFF2-40B4-BE49-F238E27FC236}">
                <a16:creationId xmlns:a16="http://schemas.microsoft.com/office/drawing/2014/main" id="{EF49BA1B-3A65-3A07-7149-0863C4E332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216188" y="26125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4AD0D9-56A9-1CD2-66B1-6978852BE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459" y="1533309"/>
            <a:ext cx="9144000" cy="2387600"/>
          </a:xfrm>
        </p:spPr>
        <p:txBody>
          <a:bodyPr>
            <a:noAutofit/>
          </a:bodyPr>
          <a:lstStyle/>
          <a:p>
            <a:r>
              <a:rPr lang="es-MX" sz="5400" dirty="0">
                <a:solidFill>
                  <a:schemeClr val="accent6">
                    <a:lumMod val="50000"/>
                  </a:schemeClr>
                </a:solidFill>
              </a:rPr>
              <a:t>Sustentación Gerencial: Estado del Proyecto </a:t>
            </a:r>
            <a:r>
              <a:rPr lang="es-MX" sz="5400" dirty="0" err="1">
                <a:solidFill>
                  <a:schemeClr val="accent6">
                    <a:lumMod val="50000"/>
                  </a:schemeClr>
                </a:solidFill>
              </a:rPr>
              <a:t>IntegraSupply</a:t>
            </a:r>
            <a:r>
              <a:rPr lang="es-MX" sz="5400" dirty="0">
                <a:solidFill>
                  <a:schemeClr val="accent6">
                    <a:lumMod val="50000"/>
                  </a:schemeClr>
                </a:solidFill>
              </a:rPr>
              <a:t> Regional</a:t>
            </a:r>
            <a:endParaRPr lang="es-CO" sz="5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7EDCD-31CF-36C4-08F8-90C788ACB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070" y="4130891"/>
            <a:ext cx="8767860" cy="1633095"/>
          </a:xfrm>
        </p:spPr>
        <p:txBody>
          <a:bodyPr>
            <a:normAutofit/>
          </a:bodyPr>
          <a:lstStyle/>
          <a:p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Presentado por</a:t>
            </a:r>
          </a:p>
          <a:p>
            <a:r>
              <a:rPr lang="es-CO" dirty="0">
                <a:solidFill>
                  <a:schemeClr val="tx1">
                    <a:lumMod val="50000"/>
                  </a:schemeClr>
                </a:solidFill>
              </a:rPr>
              <a:t>Felipe Calderón</a:t>
            </a:r>
          </a:p>
        </p:txBody>
      </p:sp>
    </p:spTree>
    <p:extLst>
      <p:ext uri="{BB962C8B-B14F-4D97-AF65-F5344CB8AC3E}">
        <p14:creationId xmlns:p14="http://schemas.microsoft.com/office/powerpoint/2010/main" val="2294131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E69ECBDB-6564-4560-969A-DDDA3142E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EBA965-60A0-445B-4E9F-56718FAD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097280"/>
            <a:ext cx="3298371" cy="1737360"/>
          </a:xfrm>
        </p:spPr>
        <p:txBody>
          <a:bodyPr/>
          <a:lstStyle/>
          <a:p>
            <a:r>
              <a:rPr lang="es-CO" sz="3600" b="1" dirty="0">
                <a:solidFill>
                  <a:schemeClr val="tx1">
                    <a:lumMod val="50000"/>
                  </a:schemeClr>
                </a:solidFill>
              </a:rPr>
              <a:t>Contexto regional y condiciones logísticas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C77CDF1-1017-2C96-A567-8ECF44C5D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2" r="16676"/>
          <a:stretch>
            <a:fillRect/>
          </a:stretch>
        </p:blipFill>
        <p:spPr bwMode="auto">
          <a:xfrm>
            <a:off x="5854122" y="1005839"/>
            <a:ext cx="6018761" cy="52088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12ACF1-90B0-45E6-8909-C7D66BDB3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99" y="2834640"/>
            <a:ext cx="4539343" cy="3686992"/>
          </a:xfrm>
        </p:spPr>
        <p:txBody>
          <a:bodyPr>
            <a:normAutofit fontScale="92500" lnSpcReduction="20000"/>
          </a:bodyPr>
          <a:lstStyle/>
          <a:p>
            <a:r>
              <a:rPr lang="es-CO" sz="2400" dirty="0">
                <a:solidFill>
                  <a:schemeClr val="tx1">
                    <a:lumMod val="50000"/>
                  </a:schemeClr>
                </a:solidFill>
              </a:rPr>
              <a:t>Operación logística en 30 territorios (Boyacá y Cundinamarca), atendiendo a 66 clientes institucionales vulnerables (salud, asistencia alimentaria, PAE, humanitarias) con 21.000 órdenes mensuales.</a:t>
            </a:r>
            <a:endParaRPr lang="es-MX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s-MX" sz="2400" dirty="0">
                <a:solidFill>
                  <a:schemeClr val="tx1">
                    <a:lumMod val="50000"/>
                  </a:schemeClr>
                </a:solidFill>
              </a:rPr>
              <a:t>Restricciones operativas: Infraestructura vial terciaria inestable por clima, cadena de frío en el 17 % del volumen crítico, y trazabilidad documental inicial de solo el 58 %</a:t>
            </a:r>
            <a:endParaRPr lang="es-CO" sz="2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45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6DDBD-F4B8-95BA-BD54-9D3A3BA2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A61812AE-97B7-B43A-EE85-B9B74F09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D726AB2-351D-2957-6EC8-B401FAE8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4" y="1097280"/>
            <a:ext cx="4539342" cy="1737360"/>
          </a:xfrm>
        </p:spPr>
        <p:txBody>
          <a:bodyPr/>
          <a:lstStyle/>
          <a:p>
            <a:r>
              <a:rPr lang="es-MX" sz="3600" b="1" dirty="0">
                <a:solidFill>
                  <a:schemeClr val="tx1">
                    <a:lumMod val="50000"/>
                  </a:schemeClr>
                </a:solidFill>
              </a:rPr>
              <a:t>Valor esperado del proyecto y beneficios a proteger</a:t>
            </a:r>
            <a:endParaRPr lang="es-CO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E1CFB52E-F339-091A-4413-257986E51B4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67443" y="2834640"/>
                <a:ext cx="4914899" cy="3686992"/>
              </a:xfrm>
            </p:spPr>
            <p:txBody>
              <a:bodyPr>
                <a:noAutofit/>
              </a:bodyPr>
              <a:lstStyle/>
              <a:p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La inversión aprobada de USD 1.480.000 busca proteger seis dimensiones de valor: continuidad del servicio (cero desabastecimiento), elevación del OTIF del 81 % al 94 %, trazabilidad E2E al 95 %, contención del costo logístico (USD 15,20 por orden), reducción de pérdidas por vencimiento (&lt; USD 8.500 por mes) y mitigación de reclamos institucionales (</a:t>
                </a:r>
                <a14:m>
                  <m:oMath xmlns:m="http://schemas.openxmlformats.org/officeDocument/2006/math"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≤</m:t>
                    </m:r>
                  </m:oMath>
                </a14:m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 60 al mes).</a:t>
                </a:r>
              </a:p>
            </p:txBody>
          </p:sp>
        </mc:Choice>
        <mc:Fallback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E1CFB52E-F339-091A-4413-257986E51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67443" y="2834640"/>
                <a:ext cx="4914899" cy="3686992"/>
              </a:xfrm>
              <a:blipFill>
                <a:blip r:embed="rId3"/>
                <a:stretch>
                  <a:fillRect l="-1613" t="-1157" r="-173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C57535C-564D-16E1-9DC8-9AED33885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342" y="1675311"/>
            <a:ext cx="6058663" cy="46275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734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3B3F0-37CC-F329-85E2-669C3281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1A2F842F-D861-D7BD-ACE2-D088998EA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E85408-547F-EFD2-65F9-41EC076C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4" y="1097280"/>
            <a:ext cx="4098470" cy="1737360"/>
          </a:xfrm>
        </p:spPr>
        <p:txBody>
          <a:bodyPr/>
          <a:lstStyle/>
          <a:p>
            <a:r>
              <a:rPr lang="es-MX" sz="3600" b="1" dirty="0">
                <a:solidFill>
                  <a:schemeClr val="tx1">
                    <a:lumMod val="50000"/>
                  </a:schemeClr>
                </a:solidFill>
              </a:rPr>
              <a:t>Mapa de seguimiento y gobernanza híbrida</a:t>
            </a:r>
            <a:endParaRPr lang="es-CO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1E3FC4-CFCD-8BAA-1EB2-C5DD12902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443" y="2834640"/>
            <a:ext cx="4914899" cy="3686992"/>
          </a:xfrm>
        </p:spPr>
        <p:txBody>
          <a:bodyPr>
            <a:noAutofit/>
          </a:bodyPr>
          <a:lstStyle/>
          <a:p>
            <a:r>
              <a:rPr lang="es-MX" sz="2200" dirty="0">
                <a:solidFill>
                  <a:schemeClr val="tx1">
                    <a:lumMod val="50000"/>
                  </a:schemeClr>
                </a:solidFill>
              </a:rPr>
              <a:t>Enfoque híbrido: Predictivo para contratos, presupuesto y flota; Adaptativo para tableros digitales, integración ERP e iteraciones por zona</a:t>
            </a:r>
          </a:p>
          <a:p>
            <a:r>
              <a:rPr lang="es-MX" sz="2200" dirty="0">
                <a:solidFill>
                  <a:schemeClr val="tx1">
                    <a:lumMod val="50000"/>
                  </a:schemeClr>
                </a:solidFill>
              </a:rPr>
              <a:t>Niveles de gobernanza: Estratégico (Dirección General), Táctico (PMO y Operaciones) y Operativo (Almacenes y Conductores)</a:t>
            </a:r>
            <a:endParaRPr lang="es-CO" sz="22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DC2F35F-1ACF-0F22-F462-5341134BB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5" r="10537"/>
          <a:stretch>
            <a:fillRect/>
          </a:stretch>
        </p:blipFill>
        <p:spPr bwMode="auto">
          <a:xfrm>
            <a:off x="4865914" y="1965960"/>
            <a:ext cx="6903055" cy="36869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5057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1E80F-3933-1823-C121-CE3CDAFE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ACCAB8CF-4A73-2A34-AA10-AA6D6652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BAB29C9-D6A9-4DC1-5E5B-AE198614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1097280"/>
            <a:ext cx="4098470" cy="1737360"/>
          </a:xfrm>
        </p:spPr>
        <p:txBody>
          <a:bodyPr/>
          <a:lstStyle/>
          <a:p>
            <a:r>
              <a:rPr lang="es-MX" sz="3200" b="1" dirty="0">
                <a:solidFill>
                  <a:schemeClr val="tx1">
                    <a:lumMod val="50000"/>
                  </a:schemeClr>
                </a:solidFill>
              </a:rPr>
              <a:t>Métricas accionables y desempeño financiero (mes 3, EVM)</a:t>
            </a:r>
            <a:endParaRPr lang="es-CO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6A5138B6-3232-0B5D-6D77-6B04D69058C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651510" y="2844437"/>
                <a:ext cx="4914899" cy="3686992"/>
              </a:xfrm>
            </p:spPr>
            <p:txBody>
              <a:bodyPr>
                <a:noAutofit/>
              </a:bodyPr>
              <a:lstStyle/>
              <a:p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Evaluación de Valor Ganado con BAC = USD 1.480.000, AC = USD 512.000, PV = USD 493.333 y EV = USD 370.000</a:t>
                </a:r>
              </a:p>
              <a:p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Indicadores críticos: </a:t>
                </a:r>
                <a:endParaRPr lang="es-MX" sz="22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𝐶𝑃𝐼</m:t>
                    </m:r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=0,72 </m:t>
                    </m:r>
                  </m:oMath>
                </a14:m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(sobrecosto y menor rendimiento por dólar) y </a:t>
                </a:r>
                <a14:m>
                  <m:oMath xmlns:m="http://schemas.openxmlformats.org/officeDocument/2006/math"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𝑆𝑃𝐼</m:t>
                    </m:r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=0,75 </m:t>
                    </m:r>
                  </m:oMath>
                </a14:m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(retraso físico del 25 %). </a:t>
                </a:r>
              </a:p>
              <a:p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Proyección </a:t>
                </a:r>
                <a14:m>
                  <m:oMath xmlns:m="http://schemas.openxmlformats.org/officeDocument/2006/math"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𝐸𝐴𝐶</m:t>
                    </m:r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=</m:t>
                    </m:r>
                    <m:r>
                      <m:rPr>
                        <m:nor/>
                      </m:rP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USD </m:t>
                    </m:r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2.055.555</m:t>
                    </m:r>
                    <m:r>
                      <a:rPr lang="es-CO" sz="2200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𝑇𝐶𝑃𝐼</m:t>
                    </m:r>
                    <m:r>
                      <a:rPr lang="es-CO" sz="2200">
                        <a:solidFill>
                          <a:schemeClr val="tx1">
                            <a:lumMod val="50000"/>
                          </a:schemeClr>
                        </a:solidFill>
                      </a:rPr>
                      <m:t>=1,15</m:t>
                    </m:r>
                  </m:oMath>
                </a14:m>
                <a:r>
                  <a:rPr lang="es-CO" sz="2200" dirty="0">
                    <a:solidFill>
                      <a:schemeClr val="tx1">
                        <a:lumMod val="5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6A5138B6-3232-0B5D-6D77-6B04D6905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651510" y="2844437"/>
                <a:ext cx="4914899" cy="3686992"/>
              </a:xfrm>
              <a:blipFill>
                <a:blip r:embed="rId3"/>
                <a:stretch>
                  <a:fillRect l="-1613" t="-115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CF4D8FA6-8346-AEA8-F5AE-4AB3C0857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409" y="1612235"/>
            <a:ext cx="6054090" cy="181676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3591EA-02FE-D157-25EF-EF717F90F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409" y="3547831"/>
            <a:ext cx="6054090" cy="29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1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F68CA-1F86-7C34-8CF1-2144594E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7A56861F-6A16-7F8D-7110-C4936DFFE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5690C9E-7622-3E86-3314-D9FBAADC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1097280"/>
            <a:ext cx="4098470" cy="1737360"/>
          </a:xfrm>
        </p:spPr>
        <p:txBody>
          <a:bodyPr/>
          <a:lstStyle/>
          <a:p>
            <a:r>
              <a:rPr lang="es-MX" sz="3200" b="1" dirty="0">
                <a:solidFill>
                  <a:schemeClr val="tx1">
                    <a:lumMod val="50000"/>
                  </a:schemeClr>
                </a:solidFill>
              </a:rPr>
              <a:t>Tablero ejecutivo de decisiones y umbrales de alerta</a:t>
            </a:r>
            <a:endParaRPr lang="es-CO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3A0520-13C3-004F-7573-018D4D3B9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1" y="3059519"/>
            <a:ext cx="4914899" cy="3686992"/>
          </a:xfrm>
        </p:spPr>
        <p:txBody>
          <a:bodyPr>
            <a:noAutofit/>
          </a:bodyPr>
          <a:lstStyle/>
          <a:p>
            <a:r>
              <a:rPr lang="es-MX" sz="2200" dirty="0">
                <a:solidFill>
                  <a:schemeClr val="tx1">
                    <a:lumMod val="50000"/>
                  </a:schemeClr>
                </a:solidFill>
              </a:rPr>
              <a:t>Consolidación de los 8 indicadores en semaforización roja (OTIF 81 %, Trazabilidad 58 %, Reclamos 162 al mes, Discrepancia inventario 8,4 %).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FF26F3-7867-E363-C6A6-48E493ACD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252" y="1333360"/>
            <a:ext cx="4158710" cy="6713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B9C1918-C320-BD79-55A8-9158B0970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623" y="2240050"/>
            <a:ext cx="6247876" cy="24276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E89CF24-0AE5-72AC-BC13-8850BCF14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4903015"/>
            <a:ext cx="11189281" cy="16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6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7E905-5BF5-615A-B7A8-AF045BD4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47DBD704-F26E-378D-1D24-65FF82ED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9D8A30-2D7A-1DB0-1AFD-08050FB6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1097280"/>
            <a:ext cx="4098470" cy="1737360"/>
          </a:xfrm>
        </p:spPr>
        <p:txBody>
          <a:bodyPr/>
          <a:lstStyle/>
          <a:p>
            <a:r>
              <a:rPr lang="es-MX" sz="3200" b="1" dirty="0">
                <a:solidFill>
                  <a:schemeClr val="tx1">
                    <a:lumMod val="50000"/>
                  </a:schemeClr>
                </a:solidFill>
              </a:rPr>
              <a:t>Análisis de riesgos y desempeño de proveedores</a:t>
            </a:r>
            <a:endParaRPr lang="es-CO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061A86-B9FC-AB46-4D21-AB6B155E0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1" y="2844437"/>
            <a:ext cx="4619658" cy="3686992"/>
          </a:xfrm>
        </p:spPr>
        <p:txBody>
          <a:bodyPr>
            <a:noAutofit/>
          </a:bodyPr>
          <a:lstStyle/>
          <a:p>
            <a:r>
              <a:rPr lang="es-CO" sz="2200" dirty="0">
                <a:solidFill>
                  <a:schemeClr val="tx1">
                    <a:lumMod val="50000"/>
                  </a:schemeClr>
                </a:solidFill>
              </a:rPr>
              <a:t>Riesgo nuevo de migración de datos (ERP), riesgo residual con 10 proveedores de alimentos y riesgo emergente de pérdida de confianza institucional. </a:t>
            </a:r>
          </a:p>
          <a:p>
            <a:r>
              <a:rPr lang="es-CO" sz="2200" dirty="0">
                <a:solidFill>
                  <a:schemeClr val="tx1">
                    <a:lumMod val="50000"/>
                  </a:schemeClr>
                </a:solidFill>
              </a:rPr>
              <a:t>Proveedores con cumplimiento documental del 72 % (meta 96 %) y concentración del 60 % del volumen en 4 proveedores.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A48B2F-4FB6-2012-C770-F24837C2B3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84" t="33962" r="16939" b="15015"/>
          <a:stretch>
            <a:fillRect/>
          </a:stretch>
        </p:blipFill>
        <p:spPr bwMode="auto">
          <a:xfrm>
            <a:off x="5271169" y="3429000"/>
            <a:ext cx="6558692" cy="2868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5CAB7AA-42A7-F35B-9EEF-A128AD219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652" y="1475996"/>
            <a:ext cx="6111726" cy="195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5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DD425-B060-2A8D-70BA-098D79AF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35EDD3F3-42CA-BB99-1B30-93B2F054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4AF6FC-8EE7-7240-907B-2A8993605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1097280"/>
            <a:ext cx="4699668" cy="1737360"/>
          </a:xfrm>
        </p:spPr>
        <p:txBody>
          <a:bodyPr/>
          <a:lstStyle/>
          <a:p>
            <a:r>
              <a:rPr lang="es-MX" sz="3200" b="1" dirty="0">
                <a:solidFill>
                  <a:schemeClr val="tx1">
                    <a:lumMod val="50000"/>
                  </a:schemeClr>
                </a:solidFill>
              </a:rPr>
              <a:t>Plan de acciones inmediatas y uso de reservas (mes 4)</a:t>
            </a:r>
            <a:endParaRPr lang="es-CO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C52C27-E003-4AA2-2992-6C079475A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1" y="2844437"/>
            <a:ext cx="4619658" cy="3686992"/>
          </a:xfrm>
        </p:spPr>
        <p:txBody>
          <a:bodyPr>
            <a:noAutofit/>
          </a:bodyPr>
          <a:lstStyle/>
          <a:p>
            <a:r>
              <a:rPr lang="es-CO" sz="2200" dirty="0">
                <a:solidFill>
                  <a:schemeClr val="tx1">
                    <a:lumMod val="50000"/>
                  </a:schemeClr>
                </a:solidFill>
              </a:rPr>
              <a:t>Acciones correctivas en contratos y preventivas en depuración de datos (</a:t>
            </a:r>
            <a:r>
              <a:rPr lang="es-CO" sz="2200" i="1" dirty="0">
                <a:solidFill>
                  <a:schemeClr val="tx1">
                    <a:lumMod val="50000"/>
                  </a:schemeClr>
                </a:solidFill>
              </a:rPr>
              <a:t>Data </a:t>
            </a:r>
            <a:r>
              <a:rPr lang="es-CO" sz="2200" i="1" dirty="0" err="1">
                <a:solidFill>
                  <a:schemeClr val="tx1">
                    <a:lumMod val="50000"/>
                  </a:schemeClr>
                </a:solidFill>
              </a:rPr>
              <a:t>Cleansing</a:t>
            </a:r>
            <a:r>
              <a:rPr lang="es-CO" sz="2200" dirty="0">
                <a:solidFill>
                  <a:schemeClr val="tx1">
                    <a:lumMod val="50000"/>
                  </a:schemeClr>
                </a:solidFill>
              </a:rPr>
              <a:t>). </a:t>
            </a:r>
          </a:p>
          <a:p>
            <a:r>
              <a:rPr lang="es-CO" sz="2200" dirty="0">
                <a:solidFill>
                  <a:schemeClr val="tx1">
                    <a:lumMod val="50000"/>
                  </a:schemeClr>
                </a:solidFill>
              </a:rPr>
              <a:t>Liberación controlada del 30 % de la Reserva de Contingencia (USD 31.500) para consultoría y capacitación, manteniendo congelada la Reserva de Gestión (USD 78.000).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EE55ECA-978F-6192-A018-5920CAFAE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541" y="1407522"/>
            <a:ext cx="6652616" cy="492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1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FB475-7800-A129-74FF-6AAE78EF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Resultado de imagen de Asturias Corporación Universitaria">
            <a:extLst>
              <a:ext uri="{FF2B5EF4-FFF2-40B4-BE49-F238E27FC236}">
                <a16:creationId xmlns:a16="http://schemas.microsoft.com/office/drawing/2014/main" id="{BF7A1C9A-3A70-6A0E-0857-E671D9FD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7" b="25603"/>
          <a:stretch>
            <a:fillRect/>
          </a:stretch>
        </p:blipFill>
        <p:spPr>
          <a:xfrm>
            <a:off x="3108960" y="336368"/>
            <a:ext cx="5754543" cy="13389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ítulo 1">
                <a:extLst>
                  <a:ext uri="{FF2B5EF4-FFF2-40B4-BE49-F238E27FC236}">
                    <a16:creationId xmlns:a16="http://schemas.microsoft.com/office/drawing/2014/main" id="{7544BFD6-8FB7-1AB6-1C7A-7EF1F97361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12520" y="1675310"/>
                <a:ext cx="9966960" cy="4088675"/>
              </a:xfrm>
            </p:spPr>
            <p:txBody>
              <a:bodyPr vert="horz" lIns="91440" tIns="45720" rIns="91440" bIns="45720" rtlCol="0">
                <a:noAutofit/>
              </a:bodyPr>
              <a:lstStyle/>
              <a:p>
                <a:pPr algn="ctr">
                  <a:spcBef>
                    <a:spcPts val="1000"/>
                  </a:spcBef>
                  <a:buClr>
                    <a:schemeClr val="accent1"/>
                  </a:buClr>
                  <a:buSzPct val="80000"/>
                  <a:buFont typeface="Corbel" pitchFamily="34" charset="0"/>
                </a:pPr>
                <a:r>
                  <a:rPr lang="es-CO" sz="2400" b="1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Recomendación final y análisis</a:t>
                </a:r>
                <a:br>
                  <a:rPr lang="es-CO" sz="2400" b="1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</a:br>
                <a:b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Se recomienda </a:t>
                </a:r>
                <a:r>
                  <a:rPr lang="es-CO" sz="2400" b="1" i="1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corregir y replantear</a:t>
                </a:r>
                <a:r>
                  <a:rPr lang="es-CO" sz="2400" b="1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s-CO" sz="2400" b="1" i="1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sin adición presupuestal, </a:t>
                </a:r>
                <a: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con el rediseño del plan de trabajo híbrido (meses 4 a 9) y establecimiento de condición de escalamiento al mes 5 (</a:t>
                </a:r>
                <a14:m>
                  <m:oMath xmlns:m="http://schemas.openxmlformats.org/officeDocument/2006/math">
                    <m:r>
                      <a:rPr lang="es-CO" sz="240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rPr>
                      <m:t>𝐶𝑃𝐼</m:t>
                    </m:r>
                    <m:r>
                      <a:rPr lang="es-CO" sz="240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rPr>
                      <m:t>≥0,90</m:t>
                    </m:r>
                  </m:oMath>
                </a14:m>
                <a: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 y trazabilidad </a:t>
                </a:r>
                <a14:m>
                  <m:oMath xmlns:m="http://schemas.openxmlformats.org/officeDocument/2006/math">
                    <m:r>
                      <a:rPr lang="es-CO" sz="240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rPr>
                      <m:t>≥80 %</m:t>
                    </m:r>
                  </m:oMath>
                </a14:m>
                <a: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). </a:t>
                </a:r>
                <a:b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</a:br>
                <a:b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</a:br>
                <a:b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s-CO" sz="2400" b="1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Enlace a las evidencias:</a:t>
                </a:r>
                <a:br>
                  <a:rPr lang="es-CO" sz="2400" b="1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s-CO" sz="2400" dirty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https://github.com/FelipeCalderon00/RedVital-IntegraSupply-Tracking-Dashboard/blob/main/README.md</a:t>
                </a:r>
                <a:r>
                  <a:rPr lang="es-CO" sz="2400" dirty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br>
                  <a:rPr lang="es-CO" sz="24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rPr>
                </a:br>
                <a:endParaRPr lang="es-CO" sz="2400" dirty="0">
                  <a:solidFill>
                    <a:schemeClr val="tx1">
                      <a:lumMod val="50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2" name="Título 1">
                <a:extLst>
                  <a:ext uri="{FF2B5EF4-FFF2-40B4-BE49-F238E27FC236}">
                    <a16:creationId xmlns:a16="http://schemas.microsoft.com/office/drawing/2014/main" id="{7544BFD6-8FB7-1AB6-1C7A-7EF1F9736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12520" y="1675310"/>
                <a:ext cx="9966960" cy="4088675"/>
              </a:xfrm>
              <a:blipFill>
                <a:blip r:embed="rId4"/>
                <a:stretch>
                  <a:fillRect l="-856" r="-13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53639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Personalizado ASt">
      <a:dk1>
        <a:srgbClr val="424242"/>
      </a:dk1>
      <a:lt1>
        <a:srgbClr val="D8DD05"/>
      </a:lt1>
      <a:dk2>
        <a:srgbClr val="424242"/>
      </a:dk2>
      <a:lt2>
        <a:srgbClr val="F3F907"/>
      </a:lt2>
      <a:accent1>
        <a:srgbClr val="D8DD05"/>
      </a:accent1>
      <a:accent2>
        <a:srgbClr val="595959"/>
      </a:accent2>
      <a:accent3>
        <a:srgbClr val="F3F907"/>
      </a:accent3>
      <a:accent4>
        <a:srgbClr val="7F7F7F"/>
      </a:accent4>
      <a:accent5>
        <a:srgbClr val="D7D447"/>
      </a:accent5>
      <a:accent6>
        <a:srgbClr val="818183"/>
      </a:accent6>
      <a:hlink>
        <a:srgbClr val="F3F907"/>
      </a:hlink>
      <a:folHlink>
        <a:srgbClr val="595959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487</Words>
  <Application>Microsoft Office PowerPoint</Application>
  <PresentationFormat>Panorámica</PresentationFormat>
  <Paragraphs>25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Base</vt:lpstr>
      <vt:lpstr>Sustentación Gerencial: Estado del Proyecto IntegraSupply Regional</vt:lpstr>
      <vt:lpstr>Contexto regional y condiciones logísticas</vt:lpstr>
      <vt:lpstr>Valor esperado del proyecto y beneficios a proteger</vt:lpstr>
      <vt:lpstr>Mapa de seguimiento y gobernanza híbrida</vt:lpstr>
      <vt:lpstr>Métricas accionables y desempeño financiero (mes 3, EVM)</vt:lpstr>
      <vt:lpstr>Tablero ejecutivo de decisiones y umbrales de alerta</vt:lpstr>
      <vt:lpstr>Análisis de riesgos y desempeño de proveedores</vt:lpstr>
      <vt:lpstr>Plan de acciones inmediatas y uso de reservas (mes 4)</vt:lpstr>
      <vt:lpstr>Recomendación final y análisis  Se recomienda corregir y replantear sin adición presupuestal, con el rediseño del plan de trabajo híbrido (meses 4 a 9) y establecimiento de condición de escalamiento al mes 5 (CPI≥0,90 y trazabilidad ≥80 %).    Enlace a las evidencias:  https://github.com/FelipeCalderon00/RedVital-IntegraSupply-Tracking-Dashboard/blob/main/README.md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12</cp:revision>
  <dcterms:created xsi:type="dcterms:W3CDTF">2026-10-16T14:17:50Z</dcterms:created>
  <dcterms:modified xsi:type="dcterms:W3CDTF">2026-10-16T15:46:52Z</dcterms:modified>
</cp:coreProperties>
</file>